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FFFFF"/>
                </a:solidFill>
              </a:defRPr>
            </a:pPr>
            <a:r>
              <a:t>When ML Meets Market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F1C40F"/>
                </a:solidFill>
              </a:defRPr>
            </a:pPr>
            <a:r>
              <a:t>Stacking SATS:  How a 296K-Parameter CNN Got Beat by a Coin Flip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840480"/>
            <a:ext cx="914400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GT OMSA Practicum  ·  Trilemma Foundation  ·  Bitcoin Accumulation Tournament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4ECCA3"/>
                </a:solidFill>
              </a:defRPr>
            </a:pPr>
            <a:r>
              <a:t>Robert Katz  ·  rkatz8@gatech.edu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</a:defRPr>
            </a:pPr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The Tournament: Daily Bitcoin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📊  OBJECTIVE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Predict daily BTC allocation weights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across 2016–2025 (~3,300 trading days)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1C40F"/>
                </a:solidFill>
              </a:defRPr>
            </a:pPr>
            <a:r>
              <a:t>🎯  METRIC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Recency-Weighted SPD Percentile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Target: top 60% of all submissions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70332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⚖️  CONSTRAINTS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Σ wᵢ = 1.0  ·  wᵢ ≥ 1e-5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No shorting  ·  Full budget each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70332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D9BE8"/>
                </a:solidFill>
              </a:defRPr>
            </a:pPr>
            <a:r>
              <a:t>🚫  CRITICAL RULE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Zero lookahead — strict causality</a:t>
            </a:r>
          </a:p>
          <a:p>
            <a:pPr>
              <a:spcBef>
                <a:spcPts val="300"/>
              </a:spcBef>
              <a:defRPr sz="1400">
                <a:solidFill>
                  <a:srgbClr val="FFFFFF"/>
                </a:solidFill>
              </a:defRPr>
            </a:pPr>
            <a:r>
              <a:t>Features use only data through day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Why Visual Trading Systems?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2743200" cy="4389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📚  FINANCE ROOTS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MBA-era chart reading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(Magee &amp; Edwards)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Human traders 'see' patterns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that quants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2968" y="1280160"/>
            <a:ext cx="2743200" cy="4389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1C40F"/>
                </a:solidFill>
              </a:defRPr>
            </a:pPr>
            <a:r>
              <a:t>🔬  RESEARCH SIGNAL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Industry reports show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high F1 on candlestick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classification tasks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Explored in OMSA with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Prof. Baich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25896" y="1280160"/>
            <a:ext cx="2743200" cy="4389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D9BE8"/>
                </a:solidFill>
              </a:defRPr>
            </a:pPr>
            <a:r>
              <a:t>❓  THE HYPOTHESIS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Pattern recognition ≠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Profitable trading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Does academic success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survive strict causality?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897880"/>
            <a:ext cx="8503920" cy="658368"/>
          </a:xfrm>
          <a:prstGeom prst="roundRect">
            <a:avLst/>
          </a:prstGeom>
          <a:solidFill>
            <a:srgbClr val="103025"/>
          </a:solidFill>
          <a:ln w="127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ECCA3"/>
                </a:solidFill>
              </a:defRPr>
            </a:pPr>
            <a:r>
              <a:t>Hypothesis: GAF images encode price patterns that a CNN can exploit for superior BTC accumulation under strict causality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Our Initial Approach: 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4389120" cy="7315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ECCA3"/>
                </a:solidFill>
              </a:defRPr>
            </a:pPr>
            <a:r>
              <a:t>BTC Price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44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  ← 90-day rolling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21992"/>
            <a:ext cx="4389120" cy="7315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ECCA3"/>
                </a:solidFill>
              </a:defRPr>
            </a:pPr>
            <a:r>
              <a:t>GAF Image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  ← Polar-coordinate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953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9544"/>
            <a:ext cx="4389120" cy="7315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Deep CNN (296K params)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319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  ← Pattern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9410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97096"/>
            <a:ext cx="4389120" cy="7315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Temperature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30682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  ← Probability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9286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84648"/>
            <a:ext cx="4389120" cy="7315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ECCA3"/>
                </a:solidFill>
              </a:defRPr>
            </a:pPr>
            <a:r>
              <a:t>Tilt → EMA → 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2943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  ← Allocation weights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6263640"/>
            <a:ext cx="8503920" cy="429768"/>
          </a:xfrm>
          <a:prstGeom prst="roundRect">
            <a:avLst/>
          </a:prstGeom>
          <a:solidFill>
            <a:srgbClr val="103025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ECCA3"/>
                </a:solidFill>
              </a:defRPr>
            </a:pPr>
            <a:r>
              <a:t>OUTPUT: Normalized daily weights  ·  Σw = 1.0  ·  seed = 42  ·  Zero lookahead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Reality Check: First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999999"/>
                </a:solidFill>
              </a:defRPr>
            </a:pPr>
            <a:r>
              <a:t>The 296K-parameter CNN barely outperforms a constant neutral signal — and both fall well short of the 60%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2331720" cy="457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0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99999"/>
                </a:solidFill>
              </a:defRPr>
            </a:pPr>
            <a: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691640"/>
            <a:ext cx="2148840" cy="457200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6B6B"/>
                </a:solidFill>
              </a:defRPr>
            </a:pPr>
            <a:r>
              <a:t>CNN (296K)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91640"/>
            <a:ext cx="2103120" cy="457200"/>
          </a:xfrm>
          <a:prstGeom prst="rect">
            <a:avLst/>
          </a:prstGeom>
          <a:solidFill>
            <a:srgbClr val="10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73736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4ECCA3"/>
                </a:solidFill>
              </a:defRPr>
            </a:pPr>
            <a:r>
              <a:t>Simplified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691640"/>
            <a:ext cx="1463040" cy="457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99999"/>
                </a:solidFill>
              </a:defRPr>
            </a:pPr>
            <a:r>
              <a:t>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233172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2240280"/>
            <a:ext cx="22402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RW SPD Percentile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148840"/>
            <a:ext cx="214884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240280"/>
            <a:ext cx="2057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6B6B"/>
                </a:solidFill>
              </a:defRPr>
            </a:pPr>
            <a:r>
              <a:t>41.43%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148840"/>
            <a:ext cx="2103120" cy="548640"/>
          </a:xfrm>
          <a:prstGeom prst="rect">
            <a:avLst/>
          </a:prstGeom>
          <a:solidFill>
            <a:srgbClr val="10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2240280"/>
            <a:ext cx="20116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4ECCA3"/>
                </a:solidFill>
              </a:defRPr>
            </a:pPr>
            <a:r>
              <a:t>41.94%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148840"/>
            <a:ext cx="146304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2240280"/>
            <a:ext cx="13716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&gt; 60%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34056"/>
            <a:ext cx="23317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" y="2825496"/>
            <a:ext cx="22402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Win Rate vs DCA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734056"/>
            <a:ext cx="214884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825496"/>
            <a:ext cx="2057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6B6B"/>
                </a:solidFill>
              </a:defRPr>
            </a:pPr>
            <a:r>
              <a:t>54.32%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734056"/>
            <a:ext cx="2103120" cy="548640"/>
          </a:xfrm>
          <a:prstGeom prst="rect">
            <a:avLst/>
          </a:prstGeom>
          <a:solidFill>
            <a:srgbClr val="10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2825496"/>
            <a:ext cx="20116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4ECCA3"/>
                </a:solidFill>
              </a:defRPr>
            </a:pPr>
            <a:r>
              <a:t>70.42%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734056"/>
            <a:ext cx="146304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25496"/>
            <a:ext cx="13716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&gt; 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19272"/>
            <a:ext cx="233172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3410712"/>
            <a:ext cx="22402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Execution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3319272"/>
            <a:ext cx="214884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410712"/>
            <a:ext cx="2057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6B6B"/>
                </a:solidFill>
              </a:defRPr>
            </a:pPr>
            <a:r>
              <a:t>~17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319272"/>
            <a:ext cx="2103120" cy="548640"/>
          </a:xfrm>
          <a:prstGeom prst="rect">
            <a:avLst/>
          </a:prstGeom>
          <a:solidFill>
            <a:srgbClr val="10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3410712"/>
            <a:ext cx="20116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4ECCA3"/>
                </a:solidFill>
              </a:defRPr>
            </a:pPr>
            <a:r>
              <a:t>~2.5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319272"/>
            <a:ext cx="146304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3410712"/>
            <a:ext cx="13716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04487"/>
            <a:ext cx="23317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3995927"/>
            <a:ext cx="22402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Model Size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3904487"/>
            <a:ext cx="214884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995927"/>
            <a:ext cx="2057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6B6B"/>
                </a:solidFill>
              </a:defRPr>
            </a:pPr>
            <a:r>
              <a:t>1.1 MB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3904487"/>
            <a:ext cx="2103120" cy="548640"/>
          </a:xfrm>
          <a:prstGeom prst="rect">
            <a:avLst/>
          </a:prstGeom>
          <a:solidFill>
            <a:srgbClr val="10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59" y="3995927"/>
            <a:ext cx="20116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4ECCA3"/>
                </a:solidFill>
              </a:defRPr>
            </a:pPr>
            <a:r>
              <a:t>None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3904487"/>
            <a:ext cx="146304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3995927"/>
            <a:ext cx="13716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489704"/>
            <a:ext cx="233172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59" y="4581144"/>
            <a:ext cx="22402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Reproducibility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97480" y="4489704"/>
            <a:ext cx="214884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4581144"/>
            <a:ext cx="2057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6B6B"/>
                </a:solidFill>
              </a:defRPr>
            </a:pPr>
            <a:r>
              <a:t>seed=42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489704"/>
            <a:ext cx="2103120" cy="548640"/>
          </a:xfrm>
          <a:prstGeom prst="rect">
            <a:avLst/>
          </a:prstGeom>
          <a:solidFill>
            <a:srgbClr val="10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59" y="4581144"/>
            <a:ext cx="20116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4ECCA3"/>
                </a:solidFill>
              </a:defRPr>
            </a:pPr>
            <a:r>
              <a:t>seed=42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4489704"/>
            <a:ext cx="1463040" cy="54864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6600" y="4581144"/>
            <a:ext cx="13716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5504688"/>
            <a:ext cx="8503920" cy="384048"/>
          </a:xfrm>
          <a:prstGeom prst="roundRect">
            <a:avLst/>
          </a:prstGeom>
          <a:solidFill>
            <a:srgbClr val="10282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4ECCA3"/>
                </a:solidFill>
              </a:defRPr>
            </a:pPr>
            <a:r>
              <a:t>📌  Neutral baseline = constant prob_up = 0.5  →  allocator pipeline unchanged; no model involved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" y="5943600"/>
            <a:ext cx="8503920" cy="384048"/>
          </a:xfrm>
          <a:prstGeom prst="roundRect">
            <a:avLst/>
          </a:prstGeom>
          <a:solidFill>
            <a:srgbClr val="282008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1C40F"/>
                </a:solidFill>
              </a:defRPr>
            </a:pPr>
            <a:r>
              <a:t>⚠️  RW-SPD rewards when and how much you deviate from neutral — not just direction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Ablation #1 — Allocator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ablat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932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0040" y="6281928"/>
            <a:ext cx="8503920" cy="429768"/>
          </a:xfrm>
          <a:prstGeom prst="roundRect">
            <a:avLst/>
          </a:prstGeom>
          <a:solidFill>
            <a:srgbClr val="282008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C40F"/>
                </a:solidFill>
              </a:defRPr>
            </a:pPr>
            <a:r>
              <a:t>Verdict: Sweeping allocator aggressiveness moves RW percentile &lt; 0.4 pp  →  NOT the root cause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Ablation #2 — The "Aha!" Moment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ablation_signal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854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0040" y="6281928"/>
            <a:ext cx="4160520" cy="429768"/>
          </a:xfrm>
          <a:prstGeom prst="roundRect">
            <a:avLst/>
          </a:prstGeom>
          <a:solidFill>
            <a:srgbClr val="30101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🚨  CNN signal ≈ neutral baseline  →  no predictive edge 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6281928"/>
            <a:ext cx="4297680" cy="429768"/>
          </a:xfrm>
          <a:prstGeom prst="roundRect">
            <a:avLst/>
          </a:prstGeom>
          <a:solidFill>
            <a:srgbClr val="103025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ECCA3"/>
                </a:solidFill>
              </a:defRPr>
            </a:pPr>
            <a:r>
              <a:t>✅  Neutral: +16 pp win rate  ·  simpler  ·  7× faster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Midterm Diagnosis: Why GAF + CNN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6B"/>
                </a:solidFill>
              </a:defRPr>
            </a:pPr>
            <a:r>
              <a:t>⏰  TIME HORIZON MISMATCH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GAF lookback: 90 days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BTC cycles: 6–18 months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Misses bull/bear regime shifts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📉  DAILY NOISE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Daily prices = low SNR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Tournament forces daily decisions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Amplifies noise, destroys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70332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D9BE8"/>
                </a:solidFill>
              </a:defRPr>
            </a:pPr>
            <a:r>
              <a:t>🏗️  WRONG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CNN exploits spatial patterns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Finance needs temporal modeling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Translation invariance irrelevant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70332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99999"/>
                </a:solidFill>
              </a:defRPr>
            </a:pPr>
            <a:r>
              <a:t>📅  TRAINING MISMATCH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Train window: 2014–2015 (available historical)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Test: 2016–2025 (tournament span)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Out-of-distribution: regime shift post-2016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What We Learned (Technical)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2743200" cy="4846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📊  DAILY SNR IS LOW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Daily price moves are dominated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by noise, not signal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Any model exploiting day-to-day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patterns likely fits noise.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Weekly or regime-horizon signals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have better SNR.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2968" y="1280160"/>
            <a:ext cx="2743200" cy="4846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6B"/>
                </a:solidFill>
              </a:defRPr>
            </a:pPr>
            <a:r>
              <a:t>🏗️  WRONG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GAF + CNN exploits spatial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patterns via 2D convolutions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BTC accumulation needs temporal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and regime modeling, not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translation invariance.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Problem is sequential, not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25896" y="1280160"/>
            <a:ext cx="2743200" cy="4846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D9BE8"/>
                </a:solidFill>
              </a:defRPr>
            </a:pPr>
            <a:r>
              <a:t>⚙️  ALLOCATOR CAN'T</a:t>
            </a:r>
            <a:br/>
            <a:r>
              <a:t>RESCUE WEAK SIGNAL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Sweeping tilt &amp; EMA params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gave &lt; 0.5 pp improvement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Garbage in → garbage out: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allocator amplifies signal,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it doesn't create it.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Test signal quality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6281928"/>
            <a:ext cx="8503920" cy="429768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D9BE8"/>
                </a:solidFill>
              </a:defRPr>
            </a:pPr>
            <a:r>
              <a:t>Implication: Test 'does this signal beat random?' before optimizing any downstream component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The Evidence-Based Pivot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840480" cy="5074920"/>
          </a:xfrm>
          <a:prstGeom prst="roundRect">
            <a:avLst/>
          </a:prstGeom>
          <a:solidFill>
            <a:srgbClr val="301010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6B6B"/>
                </a:solidFill>
              </a:defRPr>
            </a:pPr>
            <a:r>
              <a:t>CNN  (296K params)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783080"/>
            <a:ext cx="914400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RW Percentile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6B6B"/>
                </a:solidFill>
              </a:defRPr>
            </a:pPr>
            <a:r>
              <a:t>41.43%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62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954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6B6B"/>
                </a:solidFill>
              </a:defRPr>
            </a:pPr>
            <a:r>
              <a:t>54.32%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96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Exec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970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6B6B"/>
                </a:solidFill>
              </a:defRPr>
            </a:pPr>
            <a:r>
              <a:t>~17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371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Model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84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99999"/>
                </a:solidFill>
              </a:defRPr>
            </a:pPr>
            <a:r>
              <a:t>1.1 MB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880360"/>
            <a:ext cx="1097280" cy="1097280"/>
          </a:xfrm>
          <a:prstGeom prst="ellipse">
            <a:avLst/>
          </a:prstGeom>
          <a:solidFill>
            <a:srgbClr val="25254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188720"/>
            <a:ext cx="3840480" cy="5074920"/>
          </a:xfrm>
          <a:prstGeom prst="roundRect">
            <a:avLst/>
          </a:prstGeom>
          <a:solidFill>
            <a:srgbClr val="103025"/>
          </a:solidFill>
          <a:ln w="254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4ECCA3"/>
                </a:solidFill>
              </a:defRPr>
            </a:pPr>
            <a:r>
              <a:t>Simplified  (neutral)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783080"/>
            <a:ext cx="9144000" cy="18288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8745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RW Percentile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2219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4ECCA3"/>
                </a:solidFill>
              </a:defRPr>
            </a:pPr>
            <a:r>
              <a:t>41.94%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62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Win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0954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4ECCA3"/>
                </a:solidFill>
              </a:defRPr>
            </a:pPr>
            <a:r>
              <a:t>70.42%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8496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Exec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1970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4ECCA3"/>
                </a:solidFill>
              </a:defRPr>
            </a:pPr>
            <a:r>
              <a:t>~2.5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8371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Model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5184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4ECCA3"/>
                </a:solidFill>
              </a:defRPr>
            </a:pPr>
            <a:r>
              <a:t>None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6336792"/>
            <a:ext cx="3840480" cy="411480"/>
          </a:xfrm>
          <a:prstGeom prst="roundRect">
            <a:avLst/>
          </a:prstGeom>
          <a:solidFill>
            <a:srgbClr val="103025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CCA3"/>
                </a:solidFill>
              </a:defRPr>
            </a:pPr>
            <a:r>
              <a:t>🏆  Simplified wins on ALL dimensions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What We Did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✅  STRICT CAUSALITY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Last-row test  ·  Purge test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Shift test — all PASSED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Zero lookahead confirmed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✅  DETERMINISTIC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seed = 42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Fully reproducible output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Grader-safe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70332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✅  SCIENTIFIC RIGOR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Hypothesis → test → conclude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Systematic ablation studies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Transparent negative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703320"/>
            <a:ext cx="4023360" cy="2148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✅  62/62 TESTS PASSING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Unit + integration + ablation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Budget accounting tests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All results documented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Roadmap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2743200" cy="4846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ECCA3"/>
                </a:solidFill>
              </a:defRPr>
            </a:pPr>
            <a:r>
              <a:t>✅  MIDTERM</a:t>
            </a:r>
          </a:p>
          <a:p>
            <a:pPr>
              <a:spcBef>
                <a:spcPts val="200"/>
              </a:spcBef>
              <a:defRPr sz="1200">
                <a:solidFill>
                  <a:srgbClr val="999999"/>
                </a:solidFill>
              </a:defRPr>
            </a:pPr>
            <a:r>
              <a:t>Status: DONE</a:t>
            </a:r>
          </a:p>
          <a:p>
            <a:pPr>
              <a:spcBef>
                <a:spcPts val="400"/>
              </a:spcBef>
              <a:defRPr sz="900">
                <a:solidFill>
                  <a:srgbClr val="999999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Neutral baseline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62/62 tests passing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All ablations complete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Causality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2968" y="1280160"/>
            <a:ext cx="2743200" cy="4846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🔄  PHASE I</a:t>
            </a:r>
          </a:p>
          <a:p>
            <a:pPr>
              <a:spcBef>
                <a:spcPts val="200"/>
              </a:spcBef>
              <a:defRPr sz="1200">
                <a:solidFill>
                  <a:srgbClr val="999999"/>
                </a:solidFill>
              </a:defRPr>
            </a:pPr>
            <a:r>
              <a:t>→ March 2026</a:t>
            </a:r>
          </a:p>
          <a:p>
            <a:pPr>
              <a:spcBef>
                <a:spcPts val="400"/>
              </a:spcBef>
              <a:defRPr sz="900">
                <a:solidFill>
                  <a:srgbClr val="999999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Regime-gated allocator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(HMM / volatility regime)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Weekly signal horizon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XGBoost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25896" y="1280160"/>
            <a:ext cx="2743200" cy="4846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D9BE8"/>
                </a:solidFill>
              </a:defRPr>
            </a:pPr>
            <a:r>
              <a:t>🎯  PHASE II</a:t>
            </a:r>
          </a:p>
          <a:p>
            <a:pPr>
              <a:spcBef>
                <a:spcPts val="200"/>
              </a:spcBef>
              <a:defRPr sz="1200">
                <a:solidFill>
                  <a:srgbClr val="999999"/>
                </a:solidFill>
              </a:defRPr>
            </a:pPr>
            <a:r>
              <a:t>→ Final Submission</a:t>
            </a:r>
          </a:p>
          <a:p>
            <a:pPr>
              <a:spcBef>
                <a:spcPts val="400"/>
              </a:spcBef>
              <a:defRPr sz="900">
                <a:solidFill>
                  <a:srgbClr val="999999"/>
                </a:solidFill>
              </a:defRPr>
            </a:pPr>
            <a:r>
              <a:t>─────────────────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Ensemble integration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Walk-forward backtest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Final report + model card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• Full 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6281928"/>
            <a:ext cx="8503920" cy="429768"/>
          </a:xfrm>
          <a:prstGeom prst="roundRect">
            <a:avLst/>
          </a:prstGeom>
          <a:solidFill>
            <a:srgbClr val="1A1808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1C40F"/>
                </a:solidFill>
              </a:defRPr>
            </a:pPr>
            <a:r>
              <a:t>Goal: attempt to exceed 60%+ RW percentile via regime gating + weekly signals (to be validated in Phase 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</a:defRPr>
            </a:pPr>
            <a:r>
              <a:t>THE BOTTOM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22960"/>
            <a:ext cx="7863840" cy="2651760"/>
          </a:xfrm>
          <a:prstGeom prst="roundRect">
            <a:avLst/>
          </a:prstGeom>
          <a:solidFill>
            <a:srgbClr val="103025"/>
          </a:solidFill>
          <a:ln w="254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i="1">
                <a:solidFill>
                  <a:srgbClr val="FFFFFF"/>
                </a:solidFill>
              </a:defRPr>
            </a:pPr>
            <a:r>
              <a:t>"We built a technically sophisticated system and discovered through rigorous testing that it performs statistically indistinguishable from random under the RW-SPD tournament metric.</a:t>
            </a:r>
            <a:br/>
            <a:br/>
            <a:r>
              <a:t>In financial time series, signal quality matters more than model complexity."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914400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3886200"/>
            <a:ext cx="27432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CA3"/>
                </a:solidFill>
              </a:defRPr>
            </a:pPr>
            <a:r>
              <a:t>COMPLEXITY ≠ BETTER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296K params matched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by a constant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72968" y="3886200"/>
            <a:ext cx="27432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PROCESS IS THE VALUE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Scientific integrity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even with null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25896" y="3886200"/>
            <a:ext cx="27432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D9BE8"/>
                </a:solidFill>
              </a:defRPr>
            </a:pPr>
            <a:r>
              <a:t>SIGNAL FIRST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Test 'beats random?'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before optimizing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CA3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2286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832104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CA3"/>
                </a:solidFill>
              </a:defRPr>
            </a:pPr>
            <a:r>
              <a:t>Q1  ·  Metric Interpretation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Is our understanding of RW-SPD percentile vs win rate 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423160"/>
            <a:ext cx="832104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1C40F"/>
                </a:solidFill>
              </a:defRPr>
            </a:pPr>
            <a:r>
              <a:t>Q2  ·  Dataset Shift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How would you recommend handling regime shifts / non-stationarity under strict causality?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611880"/>
            <a:ext cx="832104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D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D9BE8"/>
                </a:solidFill>
              </a:defRPr>
            </a:pPr>
            <a:r>
              <a:t>Q3  ·  Pivot Scope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Is weekly signals + regime detection appropriately scoped for Phase 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800600"/>
            <a:ext cx="832104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Q4  ·  Baseline Choice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Keep simplified neutral baseline, or invest in XGBoost / ensemble?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</a:defRPr>
            </a:pPr>
            <a:r>
              <a:t>rkatz8@gatech.edu  ·  github.com/Katzup/bitcoin-analytics-capstone-template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