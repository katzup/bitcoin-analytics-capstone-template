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When AI Meets Market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1C40F"/>
                </a:solidFill>
              </a:defRPr>
            </a:pPr>
            <a:r>
              <a:t>Midterm Finding: Baseline Beats CNN (So Far)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88888"/>
                </a:solidFill>
              </a:defRPr>
            </a:pPr>
            <a:r>
              <a:t>VTS Tournament - Stacking Sats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ECCA3"/>
                </a:solidFill>
              </a:defRPr>
            </a:pPr>
            <a:r>
              <a:t>Robert Katz | GT ID: rkatz8@gatech.edu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ECCA3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Sponsor &amp; Problem: VTS Tournament - Stacking Sats Challenge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Help retail investors accumulate Bitcoin more effectively than DCA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Decision This Enables: Daily allocation between BTC and cash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Optimizing for risk-adjusted returns under strict causality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Success Definition: Top 60% percentile in recency-weighted SPD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Beat DCA consistently; demonstrate scientific rigor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ECCA3"/>
                </a:solidFill>
              </a:defRPr>
            </a:pPr>
            <a:r>
              <a:t>Why Visual Trading Systems?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My Finance Foundation (1970s MBA Era)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• Magee &amp; Edwards' Technical Analysis of Stock Trends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• Human traders 'see' patterns quants often miss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The Discovery (OMSA Program)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• JP Morgan AI group research with Professor Baich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• CNNs achieving 0.90+ F1 on candlestick patterns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The Gap &amp; The Test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• Pattern recognition ≠ Profitable trading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• Does academic success translate under real causality?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ECCA3"/>
                </a:solidFill>
              </a:defRPr>
            </a:pPr>
            <a:r>
              <a:t>The Tournament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Objective: Predict daily BTC allocation weights (2016-2025)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Metric: Recency-Weighted SPD Percentile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   (tournament rank vs all submissions, emphasizing recent periods;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    higher is better; 50th ≈ median submission performance)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Constraints: </a:t>
            </a:r>
            <a:r>
              <a:rPr dirty="0" err="1"/>
              <a:t>Σw</a:t>
            </a:r>
            <a:r>
              <a:rPr dirty="0"/>
              <a:t>ᵢ = 1.0, wᵢ ≥ 1e-5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Critical: Strict causality - no lookahead allowed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Target: Top performers &gt;60% percentile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Causality Verification: Last-row test confirmed zero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888888"/>
                </a:solidFill>
              </a:defRPr>
            </a:pPr>
            <a:r>
              <a:t>Evaluation harness + leakage tests automated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ECCA3"/>
                </a:solidFill>
              </a:defRPr>
            </a:pPr>
            <a:r>
              <a:t>Data Pipeline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Dataset: BTC daily OHLCV (2016-2025) from Polygon</a:t>
            </a:r>
            <a:r>
              <a:rPr lang="en-US" dirty="0"/>
              <a:t>/Massive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Feature Construction: GAF images from 90-day rolling windows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Pipeline: Raw Data → GAF Images → CNN (296K) → Allocator → Output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Training: 2014-2015 (public BTC OHLCV)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Evaluation: Strictly 2016-2025 (tournament period), no overlap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Leakage Controls: Strict temporal embargo + causality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ECCA3"/>
                </a:solidFill>
              </a:defRPr>
            </a:pPr>
            <a:r>
              <a:t>Execution Assumptions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Signal Timestamp: End of day t (uses data through close t)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Execution Timestamp: Day t (same-day approximation)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Execution Price: Close t (proxy for next-open or VWAP)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Transaction Costs: 0 bps base case; viable to 50+ bps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Look-ahead Bias: NONE (3 validation tests passed)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Cash Constraints: Budget-normalized (dynamic = naive total)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Sell Logic: NONE (buy-and-hold accumulation only)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Validation: Last-row modification, purge test, shift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888888"/>
                </a:solidFill>
              </a:defRPr>
            </a:pPr>
            <a:r>
              <a:t>See EXECUTION_ASSUMPTIONS.md for full sensitivity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CA3"/>
                </a:solidFill>
              </a:defRPr>
            </a:pPr>
            <a:r>
              <a:t>Our Initial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371600"/>
            <a:ext cx="3657600" cy="548640"/>
          </a:xfrm>
          <a:prstGeom prst="roundRect">
            <a:avLst/>
          </a:prstGeom>
          <a:solidFill>
            <a:srgbClr val="252540"/>
          </a:solidFill>
          <a:ln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Price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920240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88888"/>
                </a:solidFill>
              </a:defRPr>
            </a:pPr>
            <a:r>
              <a:t>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103120"/>
            <a:ext cx="3657600" cy="548640"/>
          </a:xfrm>
          <a:prstGeom prst="roundRect">
            <a:avLst/>
          </a:prstGeom>
          <a:solidFill>
            <a:srgbClr val="252540"/>
          </a:solidFill>
          <a:ln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GAF Image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834640"/>
            <a:ext cx="3657600" cy="548640"/>
          </a:xfrm>
          <a:prstGeom prst="roundRect">
            <a:avLst/>
          </a:prstGeom>
          <a:solidFill>
            <a:srgbClr val="252540"/>
          </a:solidFill>
          <a:ln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Deep 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383280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88888"/>
                </a:solidFill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566160"/>
            <a:ext cx="3657600" cy="548640"/>
          </a:xfrm>
          <a:prstGeom prst="roundRect">
            <a:avLst/>
          </a:prstGeom>
          <a:solidFill>
            <a:srgbClr val="252540"/>
          </a:solidFill>
          <a:ln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Temperature Calibration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297680"/>
            <a:ext cx="3657600" cy="548640"/>
          </a:xfrm>
          <a:prstGeom prst="roundRect">
            <a:avLst/>
          </a:prstGeom>
          <a:solidFill>
            <a:srgbClr val="252540"/>
          </a:solidFill>
          <a:ln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Tilt-Based Allocation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029200"/>
            <a:ext cx="3657600" cy="548640"/>
          </a:xfrm>
          <a:prstGeom prst="roundRect">
            <a:avLst/>
          </a:prstGeom>
          <a:solidFill>
            <a:srgbClr val="252540"/>
          </a:solidFill>
          <a:ln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EMA Smoothing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5760720"/>
            <a:ext cx="3657600" cy="548640"/>
          </a:xfrm>
          <a:prstGeom prst="roundRect">
            <a:avLst/>
          </a:prstGeom>
          <a:solidFill>
            <a:srgbClr val="252540"/>
          </a:solidFill>
          <a:ln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Normalized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ECCA3"/>
                </a:solidFill>
              </a:defRPr>
            </a:pPr>
            <a:r>
              <a:t>Hypothesis: Visual patterns in GAF images predict returns under strict causality constraints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CA3"/>
                </a:solidFill>
              </a:defRPr>
            </a:pPr>
            <a:r>
              <a:t>Reality Check: Scoreboard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7680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A1A2E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ECC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A1A2E"/>
                          </a:solidFill>
                        </a:defRPr>
                      </a:pPr>
                      <a:r>
                        <a:t>CNN</a:t>
                      </a:r>
                    </a:p>
                  </a:txBody>
                  <a:tcPr>
                    <a:solidFill>
                      <a:srgbClr val="4ECC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A1A2E"/>
                          </a:solidFill>
                        </a:defRPr>
                      </a:pPr>
                      <a:r>
                        <a:t>Simplified</a:t>
                      </a:r>
                    </a:p>
                  </a:txBody>
                  <a:tcPr>
                    <a:solidFill>
                      <a:srgbClr val="4ECC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A1A2E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4ECC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RW SPD Percentile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41.43%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41.94%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&gt;60%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Win Rate vs DCA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54.32%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70.42%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&gt;50%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Windows Evaluated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3,076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3,076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5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371600" y="4572000"/>
            <a:ext cx="6400800" cy="548640"/>
          </a:xfrm>
          <a:prstGeom prst="roundRect">
            <a:avLst/>
          </a:prstGeom>
          <a:solidFill>
            <a:srgbClr val="252540"/>
          </a:solidFill>
          <a:ln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CNN: 41.43%  |  Simplified: 41.94%  |  Target: &gt;60%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888888"/>
                </a:solidFill>
              </a:defRPr>
            </a:pPr>
            <a:r>
              <a:t>Note: Higher win rate can still yield lower SPD because SPD rewards magnitude/timing, not just 'up days'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CA3"/>
                </a:solidFill>
              </a:defRPr>
            </a:pPr>
            <a:r>
              <a:t>Current Status vs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ECCA3"/>
                </a:solidFill>
              </a:defRPr>
            </a:pPr>
            <a:r>
              <a:t>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DONE (Midterm):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Working baseline + all tests passing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GAF image pipeline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CNN architecture (296K)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Causality verification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Ablation harness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Baseline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ECCA3"/>
                </a:solidFill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Phase I (to March 2026):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• Weekly granularity testing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• Regime detection model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• XGBoost baseline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Phase II (to Final):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• Ensemble integration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• Full backtest validation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• Final documentation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CA3"/>
                </a:solidFill>
              </a:defRPr>
            </a:pPr>
            <a:r>
              <a:t>Ablation Study #1: Allocator Sizing</a:t>
            </a:r>
          </a:p>
        </p:txBody>
      </p:sp>
      <p:pic>
        <p:nvPicPr>
          <p:cNvPr id="3" name="Picture 2" descr="01_ablation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60" y="912274"/>
            <a:ext cx="7508713" cy="4464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092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1C40F"/>
                </a:solidFill>
              </a:defRPr>
            </a:pPr>
            <a:r>
              <a:rPr dirty="0"/>
              <a:t>Conclusion: Minimal impact (+0.35 pp max). Problem NOT allocator aggressiveness.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627" y="6057900"/>
            <a:ext cx="2286000" cy="457200"/>
          </a:xfrm>
          <a:prstGeom prst="rect">
            <a:avLst/>
          </a:prstGeom>
          <a:solidFill>
            <a:srgbClr val="F1C40F"/>
          </a:solidFill>
          <a:ln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Ablation #0: Is signal &gt; random?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4627" y="6014868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4ECCA3"/>
                </a:solidFill>
              </a:defRPr>
            </a:pPr>
            <a:r>
              <a:rPr dirty="0"/>
              <a:t>Takeaway: Allocator tuning doesn't move the needle → problem is NOT sizing.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CA3"/>
                </a:solidFill>
              </a:defRPr>
            </a:pPr>
            <a:r>
              <a:t>Ablation Study #2: The 'Aha!' Moment</a:t>
            </a:r>
          </a:p>
        </p:txBody>
      </p:sp>
      <p:pic>
        <p:nvPicPr>
          <p:cNvPr id="3" name="Picture 2" descr="02_ablation_signal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97" y="901641"/>
            <a:ext cx="7680960" cy="45597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3297" y="5542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1C40F"/>
                </a:solidFill>
              </a:defRPr>
            </a:pPr>
            <a:r>
              <a:rPr dirty="0"/>
              <a:t>Finding: No predictive signal detected under strict causality. CNN output statistically indistinguishable from a neutral baseline.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943600"/>
            <a:ext cx="2286000" cy="4572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Ablation #0 Answer: 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1722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</a:defRPr>
            </a:pPr>
            <a:r>
              <a:rPr dirty="0"/>
              <a:t>Takeaway: CNN signal ≈ neutral baseline → no edge detected.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CA3"/>
                </a:solidFill>
              </a:defRPr>
            </a:pPr>
            <a:r>
              <a:t>Ablation Study #3: EMA Smoothing</a:t>
            </a:r>
          </a:p>
        </p:txBody>
      </p:sp>
      <p:pic>
        <p:nvPicPr>
          <p:cNvPr id="3" name="Picture 2" descr="02_ablation_signal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5597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1C40F"/>
                </a:solidFill>
              </a:defRPr>
            </a:pPr>
            <a:r>
              <a:rPr dirty="0"/>
              <a:t>Result: ALL alphas produce IDENTICAL results. Constant signal → tilt always zero → no smoothing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ECCA3"/>
                </a:solidFill>
              </a:defRPr>
            </a:pPr>
            <a:r>
              <a:t>Takeaway: Constant output → smoothing irrelevant.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CA3"/>
                </a:solidFill>
              </a:defRPr>
            </a:pPr>
            <a:r>
              <a:t>Midterm Diagnosis: Working Hypotheses</a:t>
            </a:r>
          </a:p>
        </p:txBody>
      </p:sp>
      <p:pic>
        <p:nvPicPr>
          <p:cNvPr id="3" name="Picture 2" descr="06_root_cau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5618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1C40F"/>
                </a:solidFill>
              </a:defRPr>
            </a:pPr>
            <a:r>
              <a:t>Takeaway: Daily patterns lack predictive power. Regime-aware / longer-horizon approach needed.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CA3"/>
                </a:solidFill>
              </a:defRPr>
            </a:pPr>
            <a:r>
              <a:t>The Evidence-Based Pivot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ECCA3"/>
                </a:solidFill>
              </a:defRPr>
            </a:pPr>
            <a:r>
              <a:t>CNN (296K params)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CNN Approach: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41.43% RW Percentile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54.32% Win Rate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1.1 MB Model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~17 min execution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Complex, no edge detected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ECCA3"/>
                </a:solidFill>
              </a:defRPr>
            </a:pPr>
            <a:r>
              <a:t>Simplified (Random/Neutral)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Simplified Baseline: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41.94% RW Percentile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70.42% Win Rate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No Model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~2.5 min execution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Robust, simple, preferred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CA3"/>
                </a:solidFill>
              </a:defRPr>
            </a:pPr>
            <a:r>
              <a:t>Side-by-Side Comparison</a:t>
            </a:r>
          </a:p>
        </p:txBody>
      </p:sp>
      <p:pic>
        <p:nvPicPr>
          <p:cNvPr id="3" name="Picture 2" descr="04_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4359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1C40F"/>
                </a:solidFill>
              </a:defRPr>
            </a:pPr>
            <a:r>
              <a:t>Simplified (neutral baseline) wins on ALL dimensions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CA3"/>
                </a:solidFill>
              </a:defRPr>
            </a:pPr>
            <a:r>
              <a:t>What We Did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Technical Excellence: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Strict causality enforcement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Deterministic (seed=42)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Comprehensive testing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Grader-safe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Scientific Rigor: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Hypothesis-driven development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Systematic ablation studies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Transparent negative results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Learning orientation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ECCA3"/>
                </a:solidFill>
              </a:defRPr>
            </a:pPr>
            <a:r>
              <a:t>Key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1. Ablation studies are critical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Without them, we'd never detect the lack of signal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2. Test 'better than random?' early (Ablation #0)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Should be first test, not buried in sequence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3. Complexity ≠ Performance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296K parameters matched by neutral baseline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4. Simple often beats complex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Occam's Razor applies to trading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ECCA3"/>
                </a:solidFill>
              </a:defRPr>
            </a:pPr>
            <a:r>
              <a:t>Post-Midterm Plan (Evidence-Driven)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1. Regime-Gated Allocator (Highest Leverage)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   • Choose between DCA / buy-more / buy-less based on causal regime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   • Compare: volatility regime, trend regime, 2-state HMM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   • Action space tiny: 3 policies beat daily-noise problem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2. Reduce Daily Noise (Signal Horizon)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   • Shift from 1-day direction to 5–10 day horizon signals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   • Smooth/hold constant for weekly rebalancing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3. Robustness &amp; Validation (Keep it Credible)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   • Walk-forward evaluation with purged splits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   • Report performance by subperiod + regime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Stretch: Point-and-Figure → simple features only; keep only if ablation adds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888888"/>
                </a:solidFill>
              </a:defRPr>
            </a:pPr>
            <a:r>
              <a:rPr dirty="0"/>
              <a:t>Target: 41.94% → 57-73% RW percentile (to be validated)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CA3"/>
                </a:solidFill>
              </a:defRPr>
            </a:pPr>
            <a:r>
              <a:t>Future Improvements &amp; Next Steps</a:t>
            </a:r>
          </a:p>
        </p:txBody>
      </p:sp>
      <p:pic>
        <p:nvPicPr>
          <p:cNvPr id="3" name="Picture 2" descr="07_future_improv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5649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ECCA3"/>
                </a:solidFill>
              </a:defRPr>
            </a:pPr>
            <a:r>
              <a:t>Hypothesis / goal range: 41.94% → 57-73% RW percentile (to be validated)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ECCA3"/>
                </a:solidFill>
              </a:defRPr>
            </a:pPr>
            <a:r>
              <a:t>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Regime Shifts: BTC market structure changed (institutional adoption)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   Mitigation: Regime-aware model + rolling validation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Metric Brittleness: SPD sensitive to outliers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   Mitigation: Multiple metrics, sanity gates implemented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Overfitting: Risk with regime detection on limited data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   Mitigation: Strict train/test split, cross-validation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Data Quality: Exchange outages, feed gaps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   Mitigation: Polygon as primary, validation checks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Data Leakage: Causality violations prevented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   Mitigation: Automated tests, embargo periods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ECCA3"/>
                </a:solidFill>
              </a:defRPr>
            </a:pPr>
            <a:r>
              <a:t>What We Will Deliver (Graded)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Reproducible Run: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Single command execution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Environment specification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Deterministic output (seed=42)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Leakage/Causality Tests: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Last-row test (PASS)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Temporal embargo verified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Zero lookahead 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Models &amp; Documentation: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Midterm: Working baseline + all tests passing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One improved model (weekly/regime)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Final report + model card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Ablation results table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Code Artifacts: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Repository with README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LESSONS_LEARNED.md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Repro notebook (optional)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ECCA3"/>
                </a:solidFill>
              </a:defRPr>
            </a:pPr>
            <a:r>
              <a:t>Midterm Result: We falsified a deep-learning approach under strict causality, pivoting to a simpler, more robust baseline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Bottom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solidFill>
            <a:srgbClr val="252540"/>
          </a:solidFill>
          <a:ln w="50800">
            <a:solidFill>
              <a:srgbClr val="4E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400" i="1">
                <a:solidFill>
                  <a:srgbClr val="FFFFFF"/>
                </a:solidFill>
              </a:defRPr>
            </a:pPr>
            <a:r>
              <a:t>"We built a technically sophisticated system and discovered through rigorous testing that it performs statistically indistinguishable from random. This simplified version represents our evidence-based conclusion: in financial time series, signal quality matters more than model complexity."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ECCA3"/>
                </a:solidFill>
              </a:defRPr>
            </a:pPr>
            <a:r>
              <a:t>Scientific Integrity &gt; Raw Performance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ECCA3"/>
                </a:solidFill>
              </a:defRPr>
            </a:pPr>
            <a:r>
              <a:t>Questions &amp; Feedback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We'd appreciate feedback on: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1. Metric Interpretation: Is our SPD percentile understanding correct?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2. Split Strategy: Train (2014-2015) / Test (2016-2025) appropriate?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3. Pivot Scope: Is weekly + regime appropriately scoped?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4. Baseline Choice: Keep simplified or invest in XGBoost/ensemble?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1C40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Documentation: LESSONS_LEARNED.md</a:t>
            </a:r>
          </a:p>
          <a:p>
            <a:pPr algn="ctr">
              <a:defRPr sz="1600">
                <a:solidFill>
                  <a:srgbClr val="888888"/>
                </a:solidFill>
              </a:defRPr>
            </a:pPr>
            <a:r>
              <a:t>Code: Visual_Trading_System repository</a:t>
            </a:r>
          </a:p>
          <a:p>
            <a:pPr algn="ctr">
              <a:defRPr sz="1600">
                <a:solidFill>
                  <a:srgbClr val="888888"/>
                </a:solidFill>
              </a:defRPr>
            </a:pPr>
            <a:r>
              <a:t>Notebook: btc_accumulation_model_simplified.ipynb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ECCA3"/>
                </a:solidFill>
              </a:defRPr>
            </a:pPr>
            <a:r>
              <a:t>"The best model is the one that works, not the one that sounds impressive."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1447</Words>
  <Application>Microsoft Macintosh PowerPoint</Application>
  <PresentationFormat>On-screen Show (4:3)</PresentationFormat>
  <Paragraphs>231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Bob Katz</cp:lastModifiedBy>
  <cp:revision>2</cp:revision>
  <dcterms:created xsi:type="dcterms:W3CDTF">2013-01-27T09:14:16Z</dcterms:created>
  <dcterms:modified xsi:type="dcterms:W3CDTF">2026-02-19T17:46:39Z</dcterms:modified>
  <cp:category/>
</cp:coreProperties>
</file>